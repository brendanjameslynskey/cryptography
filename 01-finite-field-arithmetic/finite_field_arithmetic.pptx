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0E1DD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0E1DD"/>
                </a:solidFill>
                <a:latin typeface="Arial"/>
              </a:rPr>
              <a:t>AES-128 Throughput by Implementation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(Gbps)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B70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SW
(OpenSSL)</c:v>
                  </c:pt>
                  <c:pt idx="1">
                    <c:v>FPGA
LUT S-box</c:v>
                  </c:pt>
                  <c:pt idx="2">
                    <c:v>FPGA
Composite</c:v>
                  </c:pt>
                  <c:pt idx="3">
                    <c:v>FPGA
Pipelined</c:v>
                  </c:pt>
                  <c:pt idx="4">
                    <c:v>ASIC
(45nm)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3.2</c:v>
                </c:pt>
                <c:pt idx="1">
                  <c:v>5.5</c:v>
                </c:pt>
                <c:pt idx="2">
                  <c:v>7</c:v>
                </c:pt>
                <c:pt idx="3">
                  <c:v>21.5</c:v>
                </c:pt>
                <c:pt idx="4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B70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0E1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28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2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Finite Field Arithmetic</a:t>
            </a:r>
            <a:endParaRPr lang="en-US" sz="3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Cryptography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Theory, Standards, and Hardware/Software Implementation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3886200"/>
            <a:ext cx="45720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Cryptography Series  ·  Presentation 1 of 10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|  github.com/modern-cryptography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88136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Finite Field?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893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foundations, groups, rings, and fields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81912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5453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GF(p) — Prime Fields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7830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arithmetic, properties, and examples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075688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039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GF(2ⁿ) — Binary Extension Fields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2768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basis, irreducible polynomials, XOR arithmetic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69464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69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532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in Cryptographic Standards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7706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(GF(2⁸)), ECC (P-256, Curve25519), and why they were chosen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347472" cy="3474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026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Implementation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2644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ASIC / FPGA architectures, Montgomery multiplication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557016"/>
            <a:ext cx="347472" cy="3474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520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 Examples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758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GF(2⁸) multiplier, modular arithmetic RTL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050792"/>
            <a:ext cx="347472" cy="3474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4014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Examples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42519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Galois field classes, ECC field arithmetic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544568"/>
            <a:ext cx="347472" cy="3474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544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4507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Trade-offs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47457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approaches: LUT vs. combinational vs. pipelined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Finite Field?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206240" cy="82296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8229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(G, +)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Closure, associativity, identity, inverses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206240" cy="82296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64008" cy="822960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(R, +, ×)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350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under + ; closure &amp; associativity under 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206240" cy="82296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64008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8600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(F, +, ×)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310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where every non-zero element has a multiplicative inverse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206240" cy="82296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64008" cy="82296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959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Field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286000" y="3959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GF(pⁿ)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270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with a finite number of elements. Exists iff |F| = pⁿ (p prime)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1005840"/>
            <a:ext cx="3840480" cy="37947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 of Finite Fields</a:t>
            </a:r>
            <a:endParaRPr lang="en-US" sz="14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554480"/>
            <a:ext cx="182880" cy="182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40680" y="1536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uniquely for every prime power pⁿ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938528"/>
            <a:ext cx="182880" cy="1828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4406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p: adding 1 to itself p times gives 0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32257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440680" y="2304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GF(p): prime field — integers mod p</a:t>
            </a:r>
            <a:endParaRPr lang="en-US" sz="10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706624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440680" y="26883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GF(pⁿ): extension field — polynomials mod irreducible poly</a:t>
            </a:r>
            <a:endParaRPr lang="en-US" sz="10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3090672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440680" y="3072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arithmetic stays within the field (closure)</a:t>
            </a:r>
            <a:endParaRPr lang="en-US" sz="10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474720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440680" y="3456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non-zero element has a multiplicative inverse</a:t>
            </a:r>
            <a:endParaRPr lang="en-US" sz="10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3858768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44068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Évariste Galois (1811–1832)</a:t>
            </a:r>
            <a:endParaRPr lang="en-US" sz="10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4242816"/>
            <a:ext cx="182880" cy="1828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440680" y="4224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AES, ECC, error-correcting codes, and more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GF(p) — Prime Fields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326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GF(p) = { 0, 1, 2, …, p−1 }  where  p is prime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 are performed modulo p.  Addition, subtraction, multiplication, and division (via modular inverse) all produce results within the field.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GF(7) = { 0, 1, 2, 3, 4, 5, 6 }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3840480" cy="1828800"/>
        </p:xfrm>
        <a:graphic>
          <a:graphicData uri="http://schemas.openxmlformats.org/drawingml/2006/table">
            <a:tbl>
              <a:tblPr/>
              <a:tblGrid>
                <a:gridCol w="480060"/>
                <a:gridCol w="480060"/>
                <a:gridCol w="480060"/>
                <a:gridCol w="480060"/>
                <a:gridCol w="480060"/>
                <a:gridCol w="480060"/>
                <a:gridCol w="480060"/>
                <a:gridCol w="4800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table mod 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846320" y="1783080"/>
            <a:ext cx="3931920" cy="301752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Fields in Cryptography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2286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P-256 (secp256r1)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0" y="244144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2²⁵⁶ − 2²²⁴ + 2¹⁹² + 2⁹⁶ − 1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29200" y="257860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ECDSA, ECDH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29200" y="27614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P-384 (secp384r1)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0" y="291693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2³⁸⁴ − 2¹²⁸ − 2⁹⁶ + 2³² − 1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0" y="305409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B, high-security TLS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0" y="32369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P-521 (secp521r1)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0" y="339242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2⁵²¹ − 1  (Mersenne prime)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0" y="352958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NIST ECC security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0" y="37124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Curve25519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0" y="386791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2²⁵⁵ − 19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0" y="40050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X25519, Ed25519, Signal, WireGuard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0" y="41879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Curve448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0" y="434340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2⁴⁴⁸ − 2²²⁴ − 1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9200" y="448056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X448, Ed448, ~224-bit security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GF(2ⁿ) — Binary Extension Fields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326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are polynomials over GF(2), i.e., binary coefficients {0, 1}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mod an irreducible polynomial of degree n.  Addition = XOR,  Multiplication = polynomial multiply + reduce.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114800" cy="310896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847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GF(2⁸) — The AES Field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2402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Irreducible polynomial (AES):
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m(x) = x⁸ + x⁴ + x³ + x + 1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(hex: 0x11B)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</a:rPr>
              <a:t>256 elements — each is a byte (8 bits)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Addition example:
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0x57 ⊕ 0x83 = 0xD4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(01010111 XOR 10000011 = 11010100)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Multiplication example:
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0x57 × 0x83 = 0xC1  (mod m(x))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</a:rPr>
              <a:t>Multiply polynomials, reduce mod x⁸+x⁴+x³+x+1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737360"/>
            <a:ext cx="3931920" cy="310896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847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Binary Extension Fields?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22585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= XOR → no carry propagation, single gate per bit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743200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3520" y="2715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naturally to digital hardware (bits = coefficients)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200400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03520" y="3172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operations → side-channel resistant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657600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3520" y="36301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in both HW (LUT, shift-XOR) and SW (bitwise ops)</a:t>
            </a:r>
            <a:endParaRPr lang="en-US" sz="10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114800"/>
            <a:ext cx="164592" cy="16459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03520" y="40873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AES, GCM, CRC, Reed-Solomon, McEliece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Finite Fields in Cryptographic Standards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93192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3108960"/>
                <a:gridCol w="2377440"/>
              </a:tblGrid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Field?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 (Rijndael)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GF(2⁸)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m(x)=x⁸+x⁴+x³+x+1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Byte-oriented; XOR addition has no carry chain; efficient S-box via multiplicative inverse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 encryption (TLS, disk encryption, VPN)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AES-GCM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GF(2¹²⁸)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m(x)=x¹²⁸+x⁷+x²+x+1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tag via GHASH; 128-bit block matches AES; carry-less multiply (PCLMULQDQ)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Authenticated encryption (HTTPS, IPsec)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P-256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(ECDSA/ECDH)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GF(p), p=2²⁵⁶−2²²⁴+2¹⁹²+2⁹⁶−1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Pseudo-Mersenne prime enables fast reduction via shift/add; 128-bit security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certificates, code signing, FIDO2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Curve25519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(X25519/Ed25519)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GF(p), p=2²⁵⁵−19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Near-Mersenne prime → single-word reduction; constant-time ladder; cofactor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Signal, WireGuard, SSH, TLS 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Curve448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(X448/Ed448)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GF(p), p=2⁴⁴⁸−2²²⁴−1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Goldilocks prime: efficient Karatsuba; 224-bit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High-security TLS, NIST SP 800-186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SM2 (Chinese std)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GF(p), 256-bit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standard prime; similar structure to P-256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 gov encryption, digital signatures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Pseudo-Mersenne and Mersenne primes are preferred because reduction mod p becomes a series of additions and shifts — no general-purpose division needed.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Were These Fields Chosen?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93192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24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AES: Why GF(2⁸)?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1DD"/>
                </a:solidFill>
              </a:rPr>
              <a:t>Byte-oriented design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Each byte represents an element of GF(2⁸). This maps perfectly to 8-bit processor architectures and memory widths.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E1DD"/>
                </a:solidFill>
              </a:rPr>
              <a:t>S-Box = Multiplicative Inverse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The AES S-box computes the multiplicative inverse in GF(2⁸) followed by an affine transformation. This provides optimal non-linearity and resistance to differential/linear cryptanalysis.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E1DD"/>
                </a:solidFill>
              </a:rPr>
              <a:t>MixColumns = Matrix × Vector over GF(2⁸)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Each column is treated as a polynomial over GF(2⁸) and multiplied by a fixed polynomial c(x) modulo x⁴+1. This provides diffusion.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E1DD"/>
                </a:solidFill>
              </a:rPr>
              <a:t>No carry propagation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Addition is XOR — constant-time, no carries, no branching. Ideal for both SW and HW.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914400"/>
            <a:ext cx="4114800" cy="393192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1024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ECC: Why Pseudo-Mersenne Primes?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46320" y="14173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1DD"/>
                </a:solidFill>
              </a:rPr>
              <a:t>Fast modular reduction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For p = 2²⁵⁵−19, reducing mod p requires only multiply by 19 and add — no general division. For P-256's structured prime, reduction uses shifts and additions.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E1DD"/>
                </a:solidFill>
              </a:rPr>
              <a:t>Constant-time implementation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Curve25519 uses a Montgomery ladder that is inherently constant-time: every scalar bit executes the same operations. The prime 2²⁵⁵−19 allows this with efficient limb arithmetic.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E1DD"/>
                </a:solidFill>
              </a:rPr>
              <a:t>Security margin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P-256 provides 128-bit security; P-384 provides 192-bit; P-521 (Mersenne prime 2⁵²¹−1) gives ~260-bit security. Curve25519 gives ~128 bits with superior performance.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E1DD"/>
                </a:solidFill>
              </a:rPr>
              <a:t>Rigidity / Verifiability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Curve25519 uses the smallest prime ≡ 5 (mod 8) near 2²⁵⁶ → parameter choices are transparent and auditable.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Implementation of FF Arithmetic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97764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115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ASIC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155448" cy="1554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crypto accelerator blocks (AES-NI in x86 ISA)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48256"/>
            <a:ext cx="155448" cy="1554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" y="20025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field decomposition: GF(2⁸) → GF(((2²)²)²) reduces gate count by ~20%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42032"/>
            <a:ext cx="155448" cy="1554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0080" y="2496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 multipliers with systolic arrays for ECC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35808"/>
            <a:ext cx="155448" cy="15544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0080" y="2990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Side-channel countermeasures: masking, dual-rail logic</a:t>
            </a:r>
            <a:endParaRPr lang="en-US" sz="9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529584"/>
            <a:ext cx="155448" cy="15544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40080" y="34838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AES-NI: 53 Gbps native GF((2⁴)²) implementation in 45nm</a:t>
            </a:r>
            <a:endParaRPr lang="en-US" sz="900" dirty="0"/>
          </a:p>
        </p:txBody>
      </p:sp>
      <p:sp>
        <p:nvSpPr>
          <p:cNvPr id="18" name="Shape 10"/>
          <p:cNvSpPr/>
          <p:nvPr/>
        </p:nvSpPr>
        <p:spPr>
          <a:xfrm>
            <a:off x="3200400" y="914400"/>
            <a:ext cx="2743200" cy="397764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109728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703320" y="1115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</a:t>
            </a:r>
            <a:endParaRPr lang="en-US" sz="14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1554480"/>
            <a:ext cx="155448" cy="15544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56616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LUT-based S-box: ~32 LUTs per byte on modern Xilinx</a:t>
            </a:r>
            <a:endParaRPr lang="en-US" sz="9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2048256"/>
            <a:ext cx="155448" cy="15544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3566160" y="20025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field S-box: Canright's method for compact design</a:t>
            </a:r>
            <a:endParaRPr lang="en-US" sz="9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7560" y="2542032"/>
            <a:ext cx="155448" cy="15544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3566160" y="2496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Pipelined architectures: 7+ Gbps throughput</a:t>
            </a:r>
            <a:endParaRPr lang="en-US" sz="9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7560" y="3035808"/>
            <a:ext cx="155448" cy="15544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3566160" y="2990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RAM for precomputed tables (256×8 for AES S-box)</a:t>
            </a:r>
            <a:endParaRPr lang="en-US" sz="9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7560" y="3529584"/>
            <a:ext cx="155448" cy="15544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3566160" y="34838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slices for large-field Montgomery multiplication</a:t>
            </a:r>
            <a:endParaRPr lang="en-US" sz="900" dirty="0"/>
          </a:p>
        </p:txBody>
      </p:sp>
      <p:sp>
        <p:nvSpPr>
          <p:cNvPr id="32" name="Shape 18"/>
          <p:cNvSpPr/>
          <p:nvPr/>
        </p:nvSpPr>
        <p:spPr>
          <a:xfrm>
            <a:off x="6126480" y="914400"/>
            <a:ext cx="2743200" cy="397764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19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48CAE4"/>
          </a:solidFill>
          <a:ln/>
        </p:spPr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3640" y="1097280"/>
            <a:ext cx="274320" cy="27432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6629400" y="1115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3640" y="1554480"/>
            <a:ext cx="155448" cy="155448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649224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Table-driven: 256-entry lookup for GF(2⁸) (cache-timing risk)</a:t>
            </a:r>
            <a:endParaRPr lang="en-US" sz="900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3640" y="2048256"/>
            <a:ext cx="155448" cy="155448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6492240" y="20025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Bitsliced: process 64 blocks in parallel using 64-bit registers</a:t>
            </a:r>
            <a:endParaRPr lang="en-US" sz="900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63640" y="2542032"/>
            <a:ext cx="155448" cy="155448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6492240" y="2496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SIMD: AVX2/NEON for parallel field ops</a:t>
            </a:r>
            <a:endParaRPr lang="en-US" sz="900" dirty="0"/>
          </a:p>
        </p:txBody>
      </p:sp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3640" y="3035808"/>
            <a:ext cx="155448" cy="155448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6492240" y="2990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Carry-less multiply: PCLMULQDQ for GF(2¹²⁸) in GCM</a:t>
            </a:r>
            <a:endParaRPr lang="en-US" sz="900" dirty="0"/>
          </a:p>
        </p:txBody>
      </p:sp>
      <p:pic>
        <p:nvPicPr>
          <p:cNvPr id="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63640" y="3529584"/>
            <a:ext cx="155448" cy="155448"/>
          </a:xfrm>
          <a:prstGeom prst="rect">
            <a:avLst/>
          </a:prstGeom>
        </p:spPr>
      </p:pic>
      <p:sp>
        <p:nvSpPr>
          <p:cNvPr id="45" name="Text 25"/>
          <p:cNvSpPr/>
          <p:nvPr/>
        </p:nvSpPr>
        <p:spPr>
          <a:xfrm>
            <a:off x="6492240" y="34838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 arithmetic: 5×51-bit or 10×25.5-bit for Curve25519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Montgomery Multiplication for HW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572000" cy="3931920"/>
          </a:xfrm>
          <a:prstGeom prst="rect">
            <a:avLst/>
          </a:prstGeom>
          <a:solidFill>
            <a:srgbClr val="121A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 Modular Multiplication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</a:rPr>
              <a:t>Core Idea:  Replace division by N with division by R (a power of 2)
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MonPro(a, b, N):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Input:  ã = aR mod N,  b̃ = bR mod N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= 2ⁿ  (n = bit-width of N)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N' = -N⁻¹ mod R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  = ã × b̃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  = t × N' mod R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  = (t + m × N) / R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u ≥ N: u = u − N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u   (= abR mod N)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</a:rPr>
              <a:t>Division by R = right-shift by n bits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</a:rPr>
              <a:t>mod R = mask lower n bits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→ No expensive modular division!
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20640" y="914400"/>
            <a:ext cx="3749040" cy="393192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0" y="1005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Architectures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463040"/>
            <a:ext cx="338328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0" y="1463040"/>
            <a:ext cx="54864" cy="685800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5087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Bit-Serial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1 bit/cycle. Minimal area, n+1 cycles for n-bit operands. Used in constrained IoT SoCs.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0" y="2286000"/>
            <a:ext cx="338328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4" name="Shape 12"/>
          <p:cNvSpPr/>
          <p:nvPr/>
        </p:nvSpPr>
        <p:spPr>
          <a:xfrm>
            <a:off x="5303520" y="2286000"/>
            <a:ext cx="54864" cy="6858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23317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Word-Serial (CIOS)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w-bit words. w×w multiplier + CSA. Balances throughput and area. Most common in FPGA ECC.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0" y="3108960"/>
            <a:ext cx="338328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8" name="Shape 16"/>
          <p:cNvSpPr/>
          <p:nvPr/>
        </p:nvSpPr>
        <p:spPr>
          <a:xfrm>
            <a:off x="5303520" y="3108960"/>
            <a:ext cx="54864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31546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Array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Pipelined PEs pass partial products. High throughput with regular data flow. Ideal for ASIC.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3931920"/>
            <a:ext cx="338328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2" name="Shape 20"/>
          <p:cNvSpPr/>
          <p:nvPr/>
        </p:nvSpPr>
        <p:spPr>
          <a:xfrm>
            <a:off x="5303520" y="3931920"/>
            <a:ext cx="54864" cy="6858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3977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Full-Parallel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multiplication in 1 cycle. Enormous area but maximum throughput. Used in AES-NI accelerators.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SystemVerilog: GF(2⁸) Multiplier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4023360"/>
          </a:xfrm>
          <a:prstGeom prst="rect">
            <a:avLst/>
          </a:prstGeom>
          <a:solidFill>
            <a:srgbClr val="121A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gf2_8_mult.sv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gf2_8_mult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[7:0] a, b,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[7:0] 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AES irreducible poly: x^8+x^4+x^3+x+1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localparam [8:0] POLY = 9'h11B;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[7:0] partial [8];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Bit-serial Russian peasant multiply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always_comb begin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partial[0] = a;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8; i++) begin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Accumulate if bit i of b is set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(i == 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 = b[0] ? a : 8'h00;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 = p ^ (b[i] ? partial[i] : 8'h00);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xtime: shift left, reduce if MSB set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(i &lt; 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partial[i+1] = {partial[i][6:0],1'b0}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^ (partial[i][7] 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POLY[7:0] : 8'h00);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0" y="868680"/>
            <a:ext cx="3383280" cy="402336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960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Peasant Algorithm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55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shift-and-add multiplication adapted for GF(2ⁿ). Process one bit of the multiplier per iteration.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0" y="19933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xtime Operation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21762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Left-shift by 1 (multiply by x). If MSB was 1, XOR with the reduction polynomial to keep the result in the field.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0" y="26151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Polynomial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27980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0x11B = x⁸+x⁴+x³+x+1 is the AES standard polynomial. Ensures GF(2⁸) has 256 unique elements.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0" y="32369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Logic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34198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unrolled — no clock needed. Synthesizes to ~100-150 gates. Can be pipelined for higher throughput.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0" y="38587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40416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AES MixColumns (multiply by 02, 03) and S-box (multiplicative inverse via Itoh-Tsujii).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SystemVerilog: Modular Arithmetic for GF(p)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4023360"/>
          </a:xfrm>
          <a:prstGeom prst="rect">
            <a:avLst/>
          </a:prstGeom>
          <a:solidFill>
            <a:srgbClr val="121A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mod_arith.sv — Parameterized modular add/sub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mod_add #(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parameter WIDTH = 256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[WIDTH-1:0] a, b, p,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[WIDTH-1:0] sum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[WIDTH:0] temp;  // 1 extra bit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always_comb begin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 = a + b;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 = (temp &gt;= {1'b0, p})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? temp - p : temp[WIDTH-1:0];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mod_sub #(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parameter WIDTH = 256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[WIDTH-1:0] a, b, p,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[WIDTH-1:0] diff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always_comb begin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 &gt;= b)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diff = a - b;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diff = p - (b - a);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0" y="868680"/>
            <a:ext cx="3383280" cy="402336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960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Parameterized Width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</a:rPr>
              <a:t>WIDTH parameter allows the same module for 256-bit (P-256), 255-bit (Curve25519), 384-bit (P-384), etc.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Conditional Reduction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</a:rPr>
              <a:t>After addition, if result ≥ p, subtract p once. This works because inputs are in [0, p−1], so a+b &lt; 2p.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Carry Bit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</a:rPr>
              <a:t>Extra bit in temp catches overflow from the addition. Essential for correctness when a+b &gt; 2^WIDTH.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Timing Considerations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</a:rPr>
              <a:t>Wide adders/comparators have long carry chains. For ASIC/FPGA, consider carry-save or redundant representations to meet timing.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Side-Channel Warning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0E1DD"/>
                </a:solidFill>
              </a:rPr>
              <a:t>The conditional subtract creates data-dependent timing. For production crypto, use constant-time techniques (always compute both paths, select via MUX).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Python: Finite Field Arithmetic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389120" cy="4023360"/>
          </a:xfrm>
          <a:prstGeom prst="rect">
            <a:avLst/>
          </a:prstGeom>
          <a:solidFill>
            <a:srgbClr val="121A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gf2_8.py — GF(2⁸) for AES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GF2_8: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"""Galois Field GF(2^8) with AES poly."""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POLY = 0x11B  # x^8+x^4+x^3+x+1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val):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 = val &amp; 0xFF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__add__(self, other):  # XOR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GF2_8(self.val ^ other.val)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__mul__(self, other):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b, p = self.val, other.val, 0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_ in range(8):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b &amp; 1: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 ^= a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 = a &amp; 0x80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 = (a &lt;&lt; 1) &amp; 0xFF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hi: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 ^= self.POLY &amp; 0xFF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 &gt;&gt;= 1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GF2_8(p)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inverse(self):  # Fermat: a^254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GF2_8(1)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base = GF2_8(self.val)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bit in bin(254)[2:]: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 = r * 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bit == '1':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 = r * base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GF2_8(0x57); b = GF2_8(0x83)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print(f"{a*b}  =&gt; 0x{(a*b).val:02X}")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print(f"inv(0x57) = 0x{a.inverse().val:02X}")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4023360" cy="4023360"/>
          </a:xfrm>
          <a:prstGeom prst="rect">
            <a:avLst/>
          </a:prstGeom>
          <a:solidFill>
            <a:srgbClr val="121A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914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gf_p.py — GF(p) for ECC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118872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GFp: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"""Prime field GF(p) element."""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val, p):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 = val % p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 = p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__add__(self, o):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GFp(self.val + o.val, self.p)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__sub__(self, o):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GFp(self.val - o.val, self.p)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__mul__(self, o):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GFp(self.val * o.val, self.p)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__truediv__(self, o):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 * o.inverse()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inverse(self):  # Extended Euclidean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GFp(pow(self.val, self.p-2,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self.p), self.p)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__repr__(self):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f"GFp({self.val})"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Curve25519 prime field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p25519 = 2**255 - 19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GFp(42, p25519)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GFp(17, p25519)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* b / a   # should return 17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print(f"a*b/a = {c}")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P-256 prime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p256 = 2**256 - 2**224 + 2**192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+ 2**96 - 1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GFp(123456789, p256)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print(f"x^(-1)*x = {x.inverse() * x}")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&amp; Trade-offs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703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Canright (2005), McCanny (2003), Mathew/Intel (2011)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5212080" y="914400"/>
            <a:ext cx="3657600" cy="329184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9496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Trade-offs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371600"/>
          <a:ext cx="3474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Side-Ch.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 / Table-based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(RAM)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Cache-timing 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Field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(~80 gates)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Pipelined Composite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Bit-sliced (SW)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(registers)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Full-parallel ASIC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1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4114800"/>
            <a:ext cx="8595360" cy="731520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062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trade-off: area vs. throughput vs. side-channel resistance. Composite-field decomposition gives the best area efficiency; pipelining maximizes throughput; bit-slicing / constant-time algorithms provide side-channel resistance. Production systems must balance all three.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64008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051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fields are the algebraic foundation of nearly all modern cryptography — from AES to ECC to post-quantum schemes.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8229600" cy="548640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64208"/>
            <a:ext cx="64008" cy="5486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09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7099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families dominate: GF(2ⁿ) for symmetric ciphers and GF(p) for public-key / elliptic curve cryptography.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8229600" cy="548640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22576"/>
            <a:ext cx="64008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682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3682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parameters are chosen for both security and implementation efficiency — Mersenne primes, carry-free XOR, etc.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80944"/>
            <a:ext cx="8229600" cy="548640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980944"/>
            <a:ext cx="64008" cy="5486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266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30266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ranges from minimal bit-serial designs (IoT) to 53+ Gbps ASIC accelerators (data centers).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39312"/>
            <a:ext cx="8229600" cy="548640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639312"/>
            <a:ext cx="64008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850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6850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Side-channel resistance is as important as raw performance — constant-time code is essential.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 &amp; References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197 (AES)  ·  NIST SP 800-186 (ECC Curves)  ·  RFC 7748 (Curve25519/448)  ·  Kleppmann, "Implementing Curve25519"  ·  Canright, "A Very Compact Rijndael S-box"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Cryptography Series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292608" cy="29260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" y="2194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Field Arithmetic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" y="24231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2770632"/>
            <a:ext cx="292608" cy="292608"/>
          </a:xfrm>
          <a:prstGeom prst="ellipse">
            <a:avLst/>
          </a:prstGeom>
          <a:solidFill>
            <a:srgbClr val="1B2838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41248" y="2724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 Curve Cryptography (ECC)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1248" y="295351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57200" y="3300984"/>
            <a:ext cx="292608" cy="292608"/>
          </a:xfrm>
          <a:prstGeom prst="ellipse">
            <a:avLst/>
          </a:prstGeom>
          <a:solidFill>
            <a:srgbClr val="1B2838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41248" y="32552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— Design &amp; Implementation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1248" y="34838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3831336"/>
            <a:ext cx="292608" cy="292608"/>
          </a:xfrm>
          <a:prstGeom prst="ellipse">
            <a:avLst/>
          </a:prstGeom>
          <a:solidFill>
            <a:srgbClr val="1B2838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41248" y="37856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Functions &amp; MACs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41248" y="40142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57200" y="4361688"/>
            <a:ext cx="292608" cy="292608"/>
          </a:xfrm>
          <a:prstGeom prst="ellipse">
            <a:avLst/>
          </a:prstGeom>
          <a:solidFill>
            <a:srgbClr val="1B2838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41248" y="4315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Cryptography (RSA, DH)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41248" y="45445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754880" y="2240280"/>
            <a:ext cx="292608" cy="292608"/>
          </a:xfrm>
          <a:prstGeom prst="ellipse">
            <a:avLst/>
          </a:prstGeom>
          <a:solidFill>
            <a:srgbClr val="1B2838"/>
          </a:solidFill>
          <a:ln/>
        </p:spPr>
      </p:sp>
      <p:sp>
        <p:nvSpPr>
          <p:cNvPr id="27" name="Text 24"/>
          <p:cNvSpPr/>
          <p:nvPr/>
        </p:nvSpPr>
        <p:spPr>
          <a:xfrm>
            <a:off x="475488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138928" y="2194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 (ECDSA, EdDSA)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138928" y="24231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754880" y="2770632"/>
            <a:ext cx="292608" cy="292608"/>
          </a:xfrm>
          <a:prstGeom prst="ellipse">
            <a:avLst/>
          </a:prstGeom>
          <a:solidFill>
            <a:srgbClr val="1B2838"/>
          </a:solidFill>
          <a:ln/>
        </p:spPr>
      </p:sp>
      <p:sp>
        <p:nvSpPr>
          <p:cNvPr id="31" name="Text 28"/>
          <p:cNvSpPr/>
          <p:nvPr/>
        </p:nvSpPr>
        <p:spPr>
          <a:xfrm>
            <a:off x="475488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38928" y="2724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138928" y="295351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754880" y="3300984"/>
            <a:ext cx="292608" cy="292608"/>
          </a:xfrm>
          <a:prstGeom prst="ellipse">
            <a:avLst/>
          </a:prstGeom>
          <a:solidFill>
            <a:srgbClr val="1B2838"/>
          </a:solidFill>
          <a:ln/>
        </p:spPr>
      </p:sp>
      <p:sp>
        <p:nvSpPr>
          <p:cNvPr id="35" name="Text 32"/>
          <p:cNvSpPr/>
          <p:nvPr/>
        </p:nvSpPr>
        <p:spPr>
          <a:xfrm>
            <a:off x="475488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138928" y="32552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 Protocols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138928" y="34838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754880" y="3831336"/>
            <a:ext cx="292608" cy="292608"/>
          </a:xfrm>
          <a:prstGeom prst="ellipse">
            <a:avLst/>
          </a:prstGeom>
          <a:solidFill>
            <a:srgbClr val="1B2838"/>
          </a:solidFill>
          <a:ln/>
        </p:spPr>
      </p:sp>
      <p:sp>
        <p:nvSpPr>
          <p:cNvPr id="39" name="Text 36"/>
          <p:cNvSpPr/>
          <p:nvPr/>
        </p:nvSpPr>
        <p:spPr>
          <a:xfrm>
            <a:off x="4754880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138928" y="37856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Side-Channel Attacks &amp; Countermeasures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138928" y="40142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754880" y="4361688"/>
            <a:ext cx="292608" cy="292608"/>
          </a:xfrm>
          <a:prstGeom prst="ellipse">
            <a:avLst/>
          </a:prstGeom>
          <a:solidFill>
            <a:srgbClr val="1B2838"/>
          </a:solidFill>
          <a:ln/>
        </p:spPr>
      </p:sp>
      <p:sp>
        <p:nvSpPr>
          <p:cNvPr id="43" name="Text 40"/>
          <p:cNvSpPr/>
          <p:nvPr/>
        </p:nvSpPr>
        <p:spPr>
          <a:xfrm>
            <a:off x="475488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138928" y="4315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Hardware Accelerator Design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138928" y="45445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github.com/modern-cryptography  |  Contributions welcome!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Finite Field Arithmetic for Cryptography</dc:title>
  <dc:subject>PptxGenJS Presentation</dc:subject>
  <dc:creator>Modern Cryptography Series</dc:creator>
  <cp:lastModifiedBy>Modern Cryptography Series</cp:lastModifiedBy>
  <cp:revision>1</cp:revision>
  <dcterms:created xsi:type="dcterms:W3CDTF">2026-03-02T19:08:47Z</dcterms:created>
  <dcterms:modified xsi:type="dcterms:W3CDTF">2026-03-02T19:08:47Z</dcterms:modified>
</cp:coreProperties>
</file>